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75c8e13ccb4f5a" /><Relationship Type="http://schemas.openxmlformats.org/officeDocument/2006/relationships/extended-properties" Target="/docProps/app.xml" Id="Ra4c543294aeb4659" /><Relationship Type="http://schemas.openxmlformats.org/officeDocument/2006/relationships/officeDocument" Target="/ppt/presentation.xml" Id="Re86c0e31893749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69d53aebb74a16"/>
  </p:sldMasterIdLst>
  <p:notesMasterIdLst>
    <p:notesMasterId xmlns:r="http://schemas.openxmlformats.org/officeDocument/2006/relationships" r:id="Rceb58ff2a1844609"/>
  </p:notesMasterIdLst>
  <p:sldIdLst>
    <p:sldId xmlns:r="http://schemas.openxmlformats.org/officeDocument/2006/relationships" id="256" r:id="Rd6e8e756c94f4fb8"/>
    <p:sldId xmlns:r="http://schemas.openxmlformats.org/officeDocument/2006/relationships" id="257" r:id="R3431dfbca72e447b"/>
    <p:sldId xmlns:r="http://schemas.openxmlformats.org/officeDocument/2006/relationships" id="258" r:id="R9f3de8b744914eea"/>
    <p:sldId xmlns:r="http://schemas.openxmlformats.org/officeDocument/2006/relationships" id="259" r:id="Rc2ea9dbd411d4069"/>
    <p:sldId xmlns:r="http://schemas.openxmlformats.org/officeDocument/2006/relationships" id="260" r:id="R699cac3720384d1b"/>
    <p:sldId xmlns:r="http://schemas.openxmlformats.org/officeDocument/2006/relationships" id="261" r:id="Rfccb3eabf0124f24"/>
    <p:sldId xmlns:r="http://schemas.openxmlformats.org/officeDocument/2006/relationships" id="262" r:id="Rb5646a1318d947a5"/>
    <p:sldId xmlns:r="http://schemas.openxmlformats.org/officeDocument/2006/relationships" id="263" r:id="R908abe110119482e"/>
    <p:sldId xmlns:r="http://schemas.openxmlformats.org/officeDocument/2006/relationships" id="264" r:id="R1005390acd9349ca"/>
    <p:sldId xmlns:r="http://schemas.openxmlformats.org/officeDocument/2006/relationships" id="265" r:id="R68838a4cd7754a29"/>
    <p:sldId xmlns:r="http://schemas.openxmlformats.org/officeDocument/2006/relationships" id="266" r:id="R366d07308abf44b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86145387274910" /><Relationship Type="http://schemas.openxmlformats.org/officeDocument/2006/relationships/slideMaster" Target="/ppt/slideMasters/slideMaster1.xml" Id="R5369d53aebb74a16" /><Relationship Type="http://schemas.openxmlformats.org/officeDocument/2006/relationships/notesMaster" Target="/ppt/notesMasters/notesMaster1.xml" Id="Rceb58ff2a1844609" /><Relationship Type="http://schemas.openxmlformats.org/officeDocument/2006/relationships/presProps" Target="/ppt/presProps.xml" Id="R967389ce1a2f4ca4" /><Relationship Type="http://schemas.openxmlformats.org/officeDocument/2006/relationships/tableStyles" Target="/ppt/tableStyles.xml" Id="Rfc15c051e8484bc7" /><Relationship Type="http://schemas.openxmlformats.org/officeDocument/2006/relationships/slide" Target="/ppt/slides/slide1.xml" Id="Rd6e8e756c94f4fb8" /><Relationship Type="http://schemas.openxmlformats.org/officeDocument/2006/relationships/slide" Target="/ppt/slides/slide2.xml" Id="R3431dfbca72e447b" /><Relationship Type="http://schemas.openxmlformats.org/officeDocument/2006/relationships/slide" Target="/ppt/slides/slide3.xml" Id="R9f3de8b744914eea" /><Relationship Type="http://schemas.openxmlformats.org/officeDocument/2006/relationships/slide" Target="/ppt/slides/slide4.xml" Id="Rc2ea9dbd411d4069" /><Relationship Type="http://schemas.openxmlformats.org/officeDocument/2006/relationships/slide" Target="/ppt/slides/slide5.xml" Id="R699cac3720384d1b" /><Relationship Type="http://schemas.openxmlformats.org/officeDocument/2006/relationships/slide" Target="/ppt/slides/slide6.xml" Id="Rfccb3eabf0124f24" /><Relationship Type="http://schemas.openxmlformats.org/officeDocument/2006/relationships/slide" Target="/ppt/slides/slide7.xml" Id="Rb5646a1318d947a5" /><Relationship Type="http://schemas.openxmlformats.org/officeDocument/2006/relationships/slide" Target="/ppt/slides/slide8.xml" Id="R908abe110119482e" /><Relationship Type="http://schemas.openxmlformats.org/officeDocument/2006/relationships/slide" Target="/ppt/slides/slide9.xml" Id="R1005390acd9349ca" /><Relationship Type="http://schemas.openxmlformats.org/officeDocument/2006/relationships/slide" Target="/ppt/slides/slide10.xml" Id="R68838a4cd7754a29" /><Relationship Type="http://schemas.openxmlformats.org/officeDocument/2006/relationships/slide" Target="/ppt/slides/slide11.xml" Id="R366d07308abf44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b845b6852143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d3ddf085694950" /><Relationship Type="http://schemas.openxmlformats.org/officeDocument/2006/relationships/notesMaster" Target="/ppt/notesMasters/notesMaster1.xml" Id="R63e05e5e308945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9b303537e645d8" /><Relationship Type="http://schemas.openxmlformats.org/officeDocument/2006/relationships/notesMaster" Target="/ppt/notesMasters/notesMaster1.xml" Id="Rb805d775f37144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760fac09c044726" /><Relationship Type="http://schemas.openxmlformats.org/officeDocument/2006/relationships/notesMaster" Target="/ppt/notesMasters/notesMaster1.xml" Id="R538f04dbdde545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7c88a8cfca4e87" /><Relationship Type="http://schemas.openxmlformats.org/officeDocument/2006/relationships/notesMaster" Target="/ppt/notesMasters/notesMaster1.xml" Id="Rdaff49a02b024e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caf017d3824522" /><Relationship Type="http://schemas.openxmlformats.org/officeDocument/2006/relationships/notesMaster" Target="/ppt/notesMasters/notesMaster1.xml" Id="R1d8f78f5785a43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e16434c6204c0b" /><Relationship Type="http://schemas.openxmlformats.org/officeDocument/2006/relationships/notesMaster" Target="/ppt/notesMasters/notesMaster1.xml" Id="R70b97ac0027543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5d3ceb87334a4c" /><Relationship Type="http://schemas.openxmlformats.org/officeDocument/2006/relationships/notesMaster" Target="/ppt/notesMasters/notesMaster1.xml" Id="R296c320eb0e7435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6615de981144d5" /><Relationship Type="http://schemas.openxmlformats.org/officeDocument/2006/relationships/notesMaster" Target="/ppt/notesMasters/notesMaster1.xml" Id="Rd49bc0b48fe140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34f272a2a44139" /><Relationship Type="http://schemas.openxmlformats.org/officeDocument/2006/relationships/notesMaster" Target="/ppt/notesMasters/notesMaster1.xml" Id="Rf987fa0c2dbd44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37b4cb656f425e" /><Relationship Type="http://schemas.openxmlformats.org/officeDocument/2006/relationships/notesMaster" Target="/ppt/notesMasters/notesMaster1.xml" Id="R7e5baa9734c742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4ad5e18d81f4707" /><Relationship Type="http://schemas.openxmlformats.org/officeDocument/2006/relationships/notesMaster" Target="/ppt/notesMasters/notesMaster1.xml" Id="R7d2b93a748ed44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4f661bb4d847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bd61b411494ba6" /><Relationship Type="http://schemas.openxmlformats.org/officeDocument/2006/relationships/slideLayout" Target="/ppt/slideLayouts/slideLayout1.xml" Id="R00caf100a0f04f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caf100a0f04f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c23805891482d" /><Relationship Type="http://schemas.openxmlformats.org/officeDocument/2006/relationships/notesSlide" Target="/ppt/notesSlides/notesSlide1.xml" Id="R955b1aef1f9f43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96ff49c79d4e5b" /><Relationship Type="http://schemas.openxmlformats.org/officeDocument/2006/relationships/notesSlide" Target="/ppt/notesSlides/notesSlide2.xml" Id="R897aff94431644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f068cbdbb44d1" /><Relationship Type="http://schemas.openxmlformats.org/officeDocument/2006/relationships/notesSlide" Target="/ppt/notesSlides/notesSlide3.xml" Id="R110b8bcbda9c43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72eee9d34a460d" /><Relationship Type="http://schemas.openxmlformats.org/officeDocument/2006/relationships/chart" Target="/ppt/slides/charts/chart1.xml" Id="R730982074d974ca9" /><Relationship Type="http://schemas.openxmlformats.org/officeDocument/2006/relationships/notesSlide" Target="/ppt/notesSlides/notesSlide4.xml" Id="R72f1bcbe127649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9c6f11e3084aa1" /><Relationship Type="http://schemas.openxmlformats.org/officeDocument/2006/relationships/notesSlide" Target="/ppt/notesSlides/notesSlide5.xml" Id="R199b0003329f40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b7344a1a44ece" /><Relationship Type="http://schemas.openxmlformats.org/officeDocument/2006/relationships/notesSlide" Target="/ppt/notesSlides/notesSlide6.xml" Id="R7670dda7d2804f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e46ea430e4a2f" /><Relationship Type="http://schemas.openxmlformats.org/officeDocument/2006/relationships/image" Target="/ppt/media/image.jpeg" Id="R246a77bd397c4d2b" /><Relationship Type="http://schemas.openxmlformats.org/officeDocument/2006/relationships/notesSlide" Target="/ppt/notesSlides/notesSlide7.xml" Id="Rc99f7c656b9b4b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e92bce5fd42b8" /><Relationship Type="http://schemas.openxmlformats.org/officeDocument/2006/relationships/chart" Target="/ppt/slides/charts/chart2.xml" Id="Rc68b84d724e7446b" /><Relationship Type="http://schemas.openxmlformats.org/officeDocument/2006/relationships/notesSlide" Target="/ppt/notesSlides/notesSlide8.xml" Id="R6ffcc4bedf134a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3e78a0d3a4615" /><Relationship Type="http://schemas.openxmlformats.org/officeDocument/2006/relationships/notesSlide" Target="/ppt/notesSlides/notesSlide9.xml" Id="R0658000b32d649f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e5159620234d2d" /><Relationship Type="http://schemas.openxmlformats.org/officeDocument/2006/relationships/notesSlide" Target="/ppt/notesSlides/notesSlide10.xml" Id="R07cc610d6af741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42b7255d444dc" /><Relationship Type="http://schemas.openxmlformats.org/officeDocument/2006/relationships/notesSlide" Target="/ppt/notesSlides/notesSlide11.xml" Id="Rfaf785864dba463e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Images</c:v>
          </c:tx>
          <c:spPr>
            <a:solidFill xmlns:a="http://schemas.openxmlformats.org/drawingml/2006/main">
              <a:srgbClr val="2563EB"/>
            </a:solidFill>
          </c:spPr>
          <c:cat>
            <c:strLit>
              <c:ptCount val="3"/>
              <c:pt idx="0">
                <c:v>Zenodo</c:v>
              </c:pt>
              <c:pt idx="1">
                <c:v>Roboflow</c:v>
              </c:pt>
              <c:pt idx="2">
                <c:v>Kaggle</c:v>
              </c:pt>
            </c:strLit>
          </c:cat>
          <c:val>
            <c:numLit>
              <c:formatCode>General</c:formatCode>
              <c:ptCount val="3"/>
              <c:pt idx="0">
                <c:v>966</c:v>
              </c:pt>
              <c:pt idx="1">
                <c:v>350</c:v>
              </c:pt>
              <c:pt idx="2">
                <c:v>24238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Train loss</c:v>
          </c:tx>
          <c:spPr>
            <a:solidFill xmlns:a="http://schemas.openxmlformats.org/drawingml/2006/main">
              <a:srgbClr val="2563EB"/>
            </a:solidFill>
          </c:spPr>
          <c:marker>
            <c:symbol val="none"/>
          </c:marker>
          <c:cat>
            <c:numLit>
              <c:formatCode>General</c:formatCode>
              <c:ptCount val="12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  <c:pt idx="9">
                <c:v>10</c:v>
              </c:pt>
              <c:pt idx="10">
                <c:v>11</c:v>
              </c:pt>
              <c:pt idx="11">
                <c:v>12</c:v>
              </c:pt>
            </c:numLit>
          </c:cat>
          <c:val>
            <c:numLit>
              <c:formatCode>General</c:formatCode>
              <c:ptCount val="12"/>
              <c:pt idx="0">
                <c:v>0.2412</c:v>
              </c:pt>
              <c:pt idx="1">
                <c:v>0.1375</c:v>
              </c:pt>
              <c:pt idx="2">
                <c:v>0.1211</c:v>
              </c:pt>
              <c:pt idx="3">
                <c:v>0.103</c:v>
              </c:pt>
              <c:pt idx="4">
                <c:v>0.0904</c:v>
              </c:pt>
              <c:pt idx="5">
                <c:v>0.0773</c:v>
              </c:pt>
              <c:pt idx="6">
                <c:v>0.0666</c:v>
              </c:pt>
              <c:pt idx="7">
                <c:v>0.0583</c:v>
              </c:pt>
              <c:pt idx="8">
                <c:v>0.052</c:v>
              </c:pt>
              <c:pt idx="9">
                <c:v>0.0475</c:v>
              </c:pt>
              <c:pt idx="10">
                <c:v>0.0443</c:v>
              </c:pt>
              <c:pt idx="11">
                <c:v>0.0425</c:v>
              </c:pt>
            </c:numLit>
          </c:val>
        </c:ser>
        <c:ser>
          <c:idx val="1"/>
          <c:order val="1"/>
          <c:tx>
            <c:v>Valid loss</c:v>
          </c:tx>
          <c:spPr>
            <a:solidFill xmlns:a="http://schemas.openxmlformats.org/drawingml/2006/main">
              <a:srgbClr val="16865B"/>
            </a:solidFill>
          </c:spPr>
          <c:marker>
            <c:symbol val="none"/>
          </c:marker>
          <c:cat>
            <c:numLit>
              <c:formatCode>General</c:formatCode>
              <c:ptCount val="12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  <c:pt idx="9">
                <c:v>10</c:v>
              </c:pt>
              <c:pt idx="10">
                <c:v>11</c:v>
              </c:pt>
              <c:pt idx="11">
                <c:v>12</c:v>
              </c:pt>
            </c:numLit>
          </c:cat>
          <c:val>
            <c:numLit>
              <c:formatCode>General</c:formatCode>
              <c:ptCount val="12"/>
              <c:pt idx="0">
                <c:v>0.1965</c:v>
              </c:pt>
              <c:pt idx="1">
                <c:v>0.1668</c:v>
              </c:pt>
              <c:pt idx="2">
                <c:v>0.1568</c:v>
              </c:pt>
              <c:pt idx="3">
                <c:v>0.1533</c:v>
              </c:pt>
              <c:pt idx="4">
                <c:v>0.1578</c:v>
              </c:pt>
              <c:pt idx="5">
                <c:v>0.1482</c:v>
              </c:pt>
              <c:pt idx="6">
                <c:v>0.142</c:v>
              </c:pt>
              <c:pt idx="7">
                <c:v>0.1486</c:v>
              </c:pt>
              <c:pt idx="8">
                <c:v>0.1506</c:v>
              </c:pt>
              <c:pt idx="9">
                <c:v>0.1503</c:v>
              </c:pt>
              <c:pt idx="10">
                <c:v>0.1478</c:v>
              </c:pt>
              <c:pt idx="11">
                <c:v>0.1511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FE5BB1-1F48-4715-B617-67891F7C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971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基于 YOLO 的校园车辆与车牌检测系统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AB6563-F84B-45A3-B1C0-6461518F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创新应用综合实训 · 视觉 AI 应用项目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A4839-215C-4A4B-870D-946058E3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F028E-911A-4598-9CF7-87AC45D8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290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563EB"/>
                </a:solidFill>
              </a:defRPr>
            </a:pPr>
            <a:r>
              <a:rPr sz="3000" b="1">
                <a:solidFill>
                  <a:srgbClr val="2563EB"/>
                </a:solidFill>
              </a:rPr>
              <a:t>25554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9F2462-C2E3-4EC7-8ADB-BD8D018F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05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</a:defRPr>
            </a:pPr>
            <a:r>
              <a:rPr sz="1500" b="0">
                <a:solidFill>
                  <a:srgbClr val="667085"/>
                </a:solidFill>
              </a:rPr>
              <a:t>张合并训练图片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1AD42-876E-4F9A-BF80-64F6AC8E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67125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21A3A-30A6-4F61-9853-A0550D79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290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6865B"/>
                </a:solidFill>
              </a:defRPr>
            </a:pPr>
            <a:r>
              <a:rPr sz="3000" b="1">
                <a:solidFill>
                  <a:srgbClr val="16865B"/>
                </a:solidFill>
              </a:rPr>
              <a:t>0.1196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02389-3F96-478E-8743-C79F6115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05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</a:defRPr>
            </a:pPr>
            <a:r>
              <a:rPr sz="1500" b="0">
                <a:solidFill>
                  <a:srgbClr val="667085"/>
                </a:solidFill>
              </a:rPr>
              <a:t>测试集损失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E273FA-E99A-46CE-8CC9-2D6D2D2A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67125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93A38-1C57-412C-99F2-FCD04E56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A7A24"/>
                </a:solidFill>
              </a:defRPr>
            </a:pPr>
            <a:r>
              <a:rPr sz="3000" b="1">
                <a:solidFill>
                  <a:srgbClr val="EA7A24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1851A6-72B8-46C3-BCE4-C3D4A194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305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</a:defRPr>
            </a:pPr>
            <a:r>
              <a:rPr sz="1500" b="0">
                <a:solidFill>
                  <a:srgbClr val="667085"/>
                </a:solidFill>
              </a:rPr>
              <a:t>套演示版本</a:t>
            </a:r>
          </a:p>
        </p:txBody>
      </p:sp>
    </p:spTree>
    <p:extLst>
      <p:ext uri="{BB962C8B-B14F-4D97-AF65-F5344CB8AC3E}">
        <p14:creationId xmlns:p14="http://schemas.microsoft.com/office/powerpoint/2010/main" val="13527055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1DD010-117B-4D1B-AE6D-0BBB3DDF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项目要解决的是校园车辆图片的自动识别问题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7CDFB2-813F-4B53-935A-92841D4F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从人工查看图片，转向自动定位车辆和车牌区域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8DF89A-DFFA-4FEF-A5CF-36AD10C0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5A98E3-E23E-41B7-BD8B-0BDC091E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校园门口、停车场、道路监控都存在车辆通行记录需求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4185E-7783-4C52-9BB8-1FB2364A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人工查看图片效率低，难以快速统计数量和定位车牌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84172-2872-4822-B158-73FC0431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目标检测可以输出位置、类别和置信度，适合做课程视觉 AI 应用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7E02B0-59EB-4BFA-A110-1E1F2FA2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本项目重点完成“能训练、能检测、能展示、能交付”的完整闭环</a:t>
            </a:r>
          </a:p>
        </p:txBody>
      </p:sp>
    </p:spTree>
    <p:extLst>
      <p:ext uri="{BB962C8B-B14F-4D97-AF65-F5344CB8AC3E}">
        <p14:creationId xmlns:p14="http://schemas.microsoft.com/office/powerpoint/2010/main" val="3885947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417D7-F621-4311-B3FB-1B55BFB1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系统目标覆盖训练、推理和演示三个环节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7479B-F9D5-46D5-ADE6-BFF87CEA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最终交付不是单个模型，而是可展示的应用系统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C43092-474C-4E46-8F64-60EB4298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DC98D-6BCB-4E94-977D-AD4F938A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2343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0D4DA3-D9DD-457B-9F11-56B1C58C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B1ACA-A9BA-41D7-9290-A5EF90F2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623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上传图片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D6944B-8C84-43F6-BADF-E3721817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33800"/>
            <a:ext cx="1752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</a:defRPr>
            </a:pPr>
            <a:r>
              <a:rPr sz="1500" b="0">
                <a:solidFill>
                  <a:srgbClr val="667085"/>
                </a:solidFill>
              </a:rPr>
              <a:t>选择车辆图片并预览原图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98EEA-C9D3-4726-B4AF-B0BFAA0B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66950"/>
            <a:ext cx="2343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4CB1BB-3B54-49B6-9077-BBC00475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5146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F644E-33BD-4ABD-A50C-378F5C5D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623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目标检测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8F28FD-72B4-4D99-9965-BD3E682C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33800"/>
            <a:ext cx="1752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</a:defRPr>
            </a:pPr>
            <a:r>
              <a:rPr sz="1500" b="0">
                <a:solidFill>
                  <a:srgbClr val="667085"/>
                </a:solidFill>
              </a:rPr>
              <a:t>定位车辆和车牌候选区域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13C48-1A60-43BC-A72D-451D021D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2343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A2FAFF-010B-457A-BE7D-6CA28225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146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DEB38E-C117-4A2E-9BED-4230308B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623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结果展示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CCE568-09DC-4C7E-B651-B351463E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33800"/>
            <a:ext cx="1752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</a:defRPr>
            </a:pPr>
            <a:r>
              <a:rPr sz="1500" b="0">
                <a:solidFill>
                  <a:srgbClr val="667085"/>
                </a:solidFill>
              </a:rPr>
              <a:t>绘制检测框、置信度和坐标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EA5744-4CCD-4BB2-96C3-8DFAB411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66950"/>
            <a:ext cx="2343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FCBE60-3AD1-48A7-ABC5-9BB6A559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146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B7AAB8-E64E-45F6-B864-2F3DA95B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623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材料交付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D55A9A-06A7-4BCC-9A8B-C306B8A6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33800"/>
            <a:ext cx="1752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</a:defRPr>
            </a:pPr>
            <a:r>
              <a:rPr sz="1500" b="0">
                <a:solidFill>
                  <a:srgbClr val="667085"/>
                </a:solidFill>
              </a:rPr>
              <a:t>报告、PPT、演示版本和样例图</a:t>
            </a:r>
          </a:p>
        </p:txBody>
      </p:sp>
    </p:spTree>
    <p:extLst>
      <p:ext uri="{BB962C8B-B14F-4D97-AF65-F5344CB8AC3E}">
        <p14:creationId xmlns:p14="http://schemas.microsoft.com/office/powerpoint/2010/main" val="10260313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B9BEC-2B55-4B7F-B456-D956D2DC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训练数据扩展到 2.5 万张，支撑模型结果更有说服力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FC437-6348-42B9-8297-A9ADE311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三类公开数据源合并为统一 YOLO 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024D1-9A63-43AC-BD3F-871A2B41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838200" y="2047875"/>
          <a:ext xmlns:a="http://schemas.openxmlformats.org/drawingml/2006/main" cx="4953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0982074d974ca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1DBCC-4CEA-4F70-A259-A17E2FF8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191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8E8DB-95FD-4D0C-A93C-591818B9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622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合并后数据划分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744993-F8EF-4D73-8FC6-8B7754FC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865B"/>
                </a:solidFill>
              </a:defRPr>
            </a:pPr>
            <a:r>
              <a:rPr sz="1800" b="1">
                <a:solidFill>
                  <a:srgbClr val="16865B"/>
                </a:solidFill>
              </a:rPr>
              <a:t>训练集 22094 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4BD07B-3F85-455E-ABFA-A4D456D8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718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验证集 2310 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6629E-690F-4170-BB9F-B48BE685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95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A7A24"/>
                </a:solidFill>
              </a:defRPr>
            </a:pPr>
            <a:r>
              <a:rPr sz="1800" b="1">
                <a:solidFill>
                  <a:srgbClr val="EA7A24"/>
                </a:solidFill>
              </a:rPr>
              <a:t>测试集 1150 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14CFA6-BCCF-4B2C-9D4B-7D476253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6250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所有图片与标签统一复制到 datasets/combined，便于复现实验。</a:t>
            </a:r>
          </a:p>
        </p:txBody>
      </p:sp>
    </p:spTree>
    <p:extLst>
      <p:ext uri="{BB962C8B-B14F-4D97-AF65-F5344CB8AC3E}">
        <p14:creationId xmlns:p14="http://schemas.microsoft.com/office/powerpoint/2010/main" val="17246122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EB5439-41CA-413B-8EDB-36A1EA40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模型采用轻量 YOLO 风格网格检测结构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76A48-E453-48A0-964C-6020D31F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在课程电脑上可训练、可推理、可解释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5330C3-3BE0-4C28-9F2B-0B56935C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C6C06F-4267-4CE1-B385-EE188353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F51FF9-4052-44F8-9991-3A0B1EC66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765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输入图片 256×256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BB4465-B271-4DFB-B120-F0D06D6D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956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67085"/>
                </a:solidFill>
              </a:defRPr>
            </a:pPr>
            <a:r>
              <a:rPr sz="2550" b="1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4AE679-34EF-4D93-ADD8-0C89ED99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24125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D5EEFA-2EEC-437C-94E4-AF1F0752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765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CNN 特征提取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303D9-9331-4FD6-8A63-5FB23DA6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8956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67085"/>
                </a:solidFill>
              </a:defRPr>
            </a:pPr>
            <a:r>
              <a:rPr sz="2550" b="1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A1AA94-5756-45C2-AB8E-5431667F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24125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28D473-179A-4601-9764-672331C8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10×10 网格预测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E82420-FFA9-4116-8486-6EFA5A7F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956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67085"/>
                </a:solidFill>
              </a:defRPr>
            </a:pPr>
            <a:r>
              <a:rPr sz="2550" b="1">
                <a:solidFill>
                  <a:srgbClr val="667085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93E01-0CEB-47DF-9B6B-DE736CCF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24125"/>
            <a:ext cx="209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D589C-66AB-4004-A793-A6681329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765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输出目标框和类别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65F19-B6BE-4331-807A-CA1975C5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767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每个网格预测目标置信度、边界框坐标和类别概率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4EEAE-0911-4B26-B641-FC29ED4C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387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损失函数包含目标置信度、边界框回归和类别分类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EBA877-43D0-4F14-8CD2-F3EEF606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训练时加入亮度、对比度、噪声和模糊增强</a:t>
            </a:r>
          </a:p>
        </p:txBody>
      </p:sp>
    </p:spTree>
    <p:extLst>
      <p:ext uri="{BB962C8B-B14F-4D97-AF65-F5344CB8AC3E}">
        <p14:creationId xmlns:p14="http://schemas.microsoft.com/office/powerpoint/2010/main" val="10647175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602EE1-26E3-4944-A2D1-49A51B64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非静态版完成真实模型推理，静态版保证现场演示稳定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4A089E-44D9-4585-B0A4-A29E8C30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两套入口降低答辩时的运行风险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149F6-55FD-40ED-A45E-710726A2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52F214-6596-4E07-BCDA-D204FF9F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70041-75D7-475B-A801-8600BAC0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622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</a:defRPr>
            </a:pPr>
            <a:r>
              <a:rPr sz="2250" b="1">
                <a:solidFill>
                  <a:srgbClr val="2563EB"/>
                </a:solidFill>
              </a:rPr>
              <a:t>非静态版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777BD-0409-4BF6-8ECE-A63911C0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Flask 后端接口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779B7-F977-413B-B78D-34725A4E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加载 PyTorch 训练模型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7EF45D-B267-4835-A09D-F5B32813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7190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OpenCV 绘制检测结果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DFDC1-37B7-4614-A9F8-4AE43CC4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338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适合展示真实系统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6686CF-6AEE-445C-A370-87634B4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E66DA-9536-4B9E-90D3-001AF831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622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865B"/>
                </a:solidFill>
              </a:defRPr>
            </a:pPr>
            <a:r>
              <a:rPr sz="2250" b="1">
                <a:solidFill>
                  <a:srgbClr val="16865B"/>
                </a:solidFill>
              </a:rPr>
              <a:t>静态版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5775E-B5F8-4859-9529-45309C7E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4800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单个 HTML 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62A4D0-4939-47EA-93DB-E1173E49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099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无需启动服务器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59AC10-610B-493D-BFF2-F1FD7EC7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7190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本地上传并画框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3AD974-96E5-4D07-B013-C8D6F3CA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1338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适合备用演示</a:t>
            </a:r>
          </a:p>
        </p:txBody>
      </p:sp>
    </p:spTree>
    <p:extLst>
      <p:ext uri="{BB962C8B-B14F-4D97-AF65-F5344CB8AC3E}">
        <p14:creationId xmlns:p14="http://schemas.microsoft.com/office/powerpoint/2010/main" val="16882072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1F46D8-8638-4376-8BA4-39ACE537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系统页面支持上传、检测、统计和车牌裁剪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FD9494-87C7-4C11-BFB7-DF63E700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演示时重点展示从输入到输出的完整流程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C1BD7-DFB0-42CF-AF58-902DB6D7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a77bd397c4d2b"/>
          <a:stretch xmlns:a="http://schemas.openxmlformats.org/drawingml/2006/main"/>
        </p:blipFill>
        <p:spPr>
          <a:xfrm xmlns:a="http://schemas.openxmlformats.org/drawingml/2006/main">
            <a:off x="762000" y="1949552"/>
            <a:ext cx="4953000" cy="343514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6BAEF-5150-4E16-898F-CA7AA201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952625"/>
            <a:ext cx="4095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35541-C2FA-415D-9FC1-296F2F6C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860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页面输出内容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5BF7C-ECE0-47C9-9ED7-DA8A7D72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52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车辆/车牌数量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8373B-9674-4A8D-8073-2CEA489A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528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目标置信度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83D60-DFA4-4D46-A90B-872F9CD4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7528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检测框坐标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445567-FC5A-4688-803F-DC77CA00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152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车牌裁剪区域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CE3333-8497-41F4-99D8-D06BC2FB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52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结果图保存</a:t>
            </a:r>
          </a:p>
        </p:txBody>
      </p:sp>
    </p:spTree>
    <p:extLst>
      <p:ext uri="{BB962C8B-B14F-4D97-AF65-F5344CB8AC3E}">
        <p14:creationId xmlns:p14="http://schemas.microsoft.com/office/powerpoint/2010/main" val="1475928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FAEBCC-9D41-46F1-867B-96D31DB3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训练结果显示模型在大数据集上稳定收敛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AC242B-34E9-4C96-98B4-C3C41ECA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测试集损失优于小数据训练版本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692B9-63FB-4AD9-BBAE-6022DFFA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781050" y="1905000"/>
          <a:ext xmlns:a="http://schemas.openxmlformats.org/drawingml/2006/main" cx="62865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8b84d724e7446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9C619A-845A-4C40-956E-BD0DBDBF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43125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9F107-06CE-4BB7-8BD9-7382A001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00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关键指标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F632ED-5701-4F3D-9A91-2E2F2A76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956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65B"/>
                </a:solidFill>
              </a:defRPr>
            </a:pPr>
            <a:r>
              <a:rPr sz="1650" b="1">
                <a:solidFill>
                  <a:srgbClr val="16865B"/>
                </a:solidFill>
              </a:rPr>
              <a:t>最佳验证损失 0.1420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54A218-817B-4B29-9D49-562A6646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195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测试集损失 0.1196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20971-C793-46C0-9B21-7A3060A2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433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7A24"/>
                </a:solidFill>
              </a:defRPr>
            </a:pPr>
            <a:r>
              <a:rPr sz="1650" b="1">
                <a:solidFill>
                  <a:srgbClr val="EA7A24"/>
                </a:solidFill>
              </a:rPr>
              <a:t>训练数据 25554 张</a:t>
            </a:r>
          </a:p>
        </p:txBody>
      </p:sp>
    </p:spTree>
    <p:extLst>
      <p:ext uri="{BB962C8B-B14F-4D97-AF65-F5344CB8AC3E}">
        <p14:creationId xmlns:p14="http://schemas.microsoft.com/office/powerpoint/2010/main" val="1031889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65768D-CCE7-48FF-AF7D-24C09485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项目亮点在于完成了从训练到应用的完整闭环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694D5-A862-4390-A980-8CFD27F1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不足也清楚，后续可以继续加强车辆整体检测和字符识别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96FC4-7852-40A5-AD98-17AEAC03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0AF2A-063C-424C-BA1F-97787A06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52625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93D7D-A118-4CBC-93D8-33DD4EFA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66950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865B"/>
                </a:solidFill>
              </a:defRPr>
            </a:pPr>
            <a:r>
              <a:rPr sz="2250" b="1">
                <a:solidFill>
                  <a:srgbClr val="16865B"/>
                </a:solidFill>
              </a:rPr>
              <a:t>亮点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852964-11D2-4932-AE7D-FFA3F68A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527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多源数据集合并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B8811B-5B4C-4E27-950A-D46BAC5C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147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2.5 万张图像训练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4422C-3271-4005-9997-5CFD723A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766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双版本演示入口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52F662-C216-46D3-8687-8E367684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38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检测结果可视化完整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C5B44C-D13C-4AA3-8F00-655CD8E7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52625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9423B-68C8-4EBE-89E3-BE8BED2E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669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A7A24"/>
                </a:solidFill>
              </a:defRPr>
            </a:pPr>
            <a:r>
              <a:rPr sz="2250" b="1">
                <a:solidFill>
                  <a:srgbClr val="EA7A24"/>
                </a:solidFill>
              </a:rPr>
              <a:t>后续改进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5FDE7D-58F3-493C-90F3-B8638D68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527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加入更多校园场景数据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596787-B5F6-4B47-B40D-7902ED84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147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替换为完整 YOLOv5/YOLOv8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882BC0-81F1-4C18-8EA5-A7F7DB19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766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增加车牌字符识别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A08479-BC5C-4482-B222-AE61B01E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38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• 扩展实时视频检测</a:t>
            </a:r>
          </a:p>
        </p:txBody>
      </p:sp>
    </p:spTree>
    <p:extLst>
      <p:ext uri="{BB962C8B-B14F-4D97-AF65-F5344CB8AC3E}">
        <p14:creationId xmlns:p14="http://schemas.microsoft.com/office/powerpoint/2010/main" val="8367694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BDA7EB-E402-4E43-B2F6-3D275C74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分工围绕模型、系统、材料和演示展开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08E73-B608-4D9E-969A-D3BBE19E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贡献比例可按实际小组成员姓名替换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9FEF72-D6FC-4C8C-BB03-5DF0739C5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040E7-E4E8-4AF3-BD76-6ECF8CB9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10382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8D951-C5E2-463B-801E-D161D052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3812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成员A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B0A38E-98C7-46C3-A073-F171D21F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3812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需求分析、报告撰写、材料整理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8DFB8F-C367-42E9-B4F3-87671FAE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812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25%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C1B56F-0EC0-4165-9430-CAA6503C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9051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成员B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367E0F-1D51-4598-BECF-9277C133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05125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数据集整理、模型训练、结果分析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9894A7-4950-4DB6-B77C-BD996BA6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051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30%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E81C2E-7AB7-4498-B36E-9F1A663F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4290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成员C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4209F1-0461-42BB-A9D1-05765B0A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后端接口、检测模块、OpenCV 可视化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43FAF8-26AF-45FE-A2D9-6730CFB5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290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25%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790FBB-14D7-4F0D-ABD1-382A14C2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9528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成员D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7E8E31-C637-4E73-9E9C-A3DEED59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952875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前端页面、静态版、PPT 和视频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B778F-5799-4B86-994D-EC06A9E2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528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20%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9D82F3-E775-4B6A-8298-F87AD98C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95875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成员A：成员B：成员C：成员D = 2.5：3.0：2.5：2.0</a:t>
            </a:r>
          </a:p>
        </p:txBody>
      </p:sp>
    </p:spTree>
    <p:extLst>
      <p:ext uri="{BB962C8B-B14F-4D97-AF65-F5344CB8AC3E}">
        <p14:creationId xmlns:p14="http://schemas.microsoft.com/office/powerpoint/2010/main" val="17418935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5668C-67DE-4B7A-9F82-8B6B7C41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9906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最终交付形成了可运行、可展示、可复现的视觉 AI 课程项目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B8CA1-1029-4C46-9C45-A7CCD0AC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838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67085"/>
                </a:solidFill>
              </a:defRPr>
            </a:pPr>
            <a:r>
              <a:rPr sz="1950" b="0">
                <a:solidFill>
                  <a:srgbClr val="667085"/>
                </a:solidFill>
              </a:rPr>
              <a:t>下一步可以接入完整 YOLO 权重、视频流检测和车牌字符识别，把原型扩展为更接近真实校园车辆管理系统的应用。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05B84-908D-440F-BB6D-74074347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304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C7146-2830-47EE-8F6D-62DC6F17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006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非静态版 + 静态版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030E8-6F6C-4698-8793-F3567FCC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762500"/>
            <a:ext cx="304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F2D25-91FB-488E-85E4-1187DDA4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0006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865B"/>
                </a:solidFill>
              </a:defRPr>
            </a:pPr>
            <a:r>
              <a:rPr sz="1800" b="1">
                <a:solidFill>
                  <a:srgbClr val="16865B"/>
                </a:solidFill>
              </a:rPr>
              <a:t>模型和数据可复现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C970E-6507-4FD1-8CFF-2CCCB7E6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62500"/>
            <a:ext cx="304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763B83-99CB-4D81-B18A-5D0D637B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0006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A7A24"/>
                </a:solidFill>
              </a:defRPr>
            </a:pPr>
            <a:r>
              <a:rPr sz="1800" b="1">
                <a:solidFill>
                  <a:srgbClr val="EA7A24"/>
                </a:solidFill>
              </a:rPr>
              <a:t>报告和 PPT 已整理</a:t>
            </a:r>
          </a:p>
        </p:txBody>
      </p:sp>
    </p:spTree>
    <p:extLst>
      <p:ext uri="{BB962C8B-B14F-4D97-AF65-F5344CB8AC3E}">
        <p14:creationId xmlns:p14="http://schemas.microsoft.com/office/powerpoint/2010/main" val="11682624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2026-07-23T09:29:20.3720000Z</dcterms:created>
  <dcterms:modified xsi:type="dcterms:W3CDTF">2026-07-23T09:29:20.3720000Z</dcterms:modified>
</coreProperties>
</file>